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BM Plex Mono Medium" panose="020B0609050203000203" pitchFamily="49" charset="0"/>
      <p:regular r:id="rId17"/>
    </p:embeddedFont>
    <p:embeddedFont>
      <p:font typeface="IBM Plex Mono SemiBold" panose="020B0709050203000203" pitchFamily="49" charset="0"/>
      <p:regular r:id="rId18"/>
      <p:bold r:id="rId19"/>
    </p:embeddedFont>
    <p:embeddedFont>
      <p:font typeface="Onest ExtraBold" panose="020B0604020202020204" charset="0"/>
      <p:regular r:id="rId20"/>
    </p:embeddedFont>
    <p:embeddedFont>
      <p:font typeface="Onest Medium" panose="020B0604020202020204" charset="0"/>
      <p:regular r:id="rId21"/>
    </p:embeddedFont>
    <p:embeddedFont>
      <p:font typeface="Onest SemiBold" panose="020B0604020202020204" charset="0"/>
      <p:regular r:id="rId22"/>
    </p:embeddedFont>
    <p:embeddedFont>
      <p:font typeface="Unbounded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34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Сәлеметсіздер ме! Бүгін мен «Алгоритмдеу және бағдарламалау негіздері» пәні бойынша орындалған «Library Manager — Электрондық кітапхана жүйесі» курстық жобамды қорғауға ұсынамын.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Жобаның негізгі мақсаты — кітапхана қорын жүйелеу, кітаптардың қолжетімділігін жедел бақылау және оқырмандар мен кітапханашы үшін қарапайым әрі тиімді іздеу құралын ұсыну.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Технологиялық стек ретінде Python тілінің базалық құрылымдары пайдаланылды: List тізімді сақтаса, Dictionary әр кітаптың толық атрибуттарын сипаттайды.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Бағдарламаның функционалы төрт тәуелсіз функцияға бөлінген. Бұл кодты оқуды жеңілдетеді және жаңа мүмкіндіктерді қосуға жол ашады.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Мәзір жұмысы сызықтық және циклдік логикаға құрылған. Қолданушы қалағанша операция жасай алады, ал 5 санын енгізгенде цикл тоқтатылады.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Мұнда add_book() функциясы көрсетілген. Деректер input арқылы жиналып, кілт-мән құрылымына салынады да, негізгі массивке append әдісімен қосылады.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Оң жақта нақты консольдік орындалу сынағы көрсетілген. «Абай» кілтсөзі арқылы іздеу дұрыс жүргізіліп, кітап мәртебесі «Қолжетімді» ретінде шығарылды.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Жоба толығымен нұсқаларды басқару жүйесіне жүктелген. README құжатында іске қосу қадамдары жазылған, тек бір пәрмен арқылы бағдарлама іске қосылады.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Қорытындылай келе, жоба өз міндетін орындады. Алдағы уақытта дерекқорды байланыстыру және график интерфейс құру жоспарлануда.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Тыңдағандарыңызға көп рақмет! Жоба бойынша сұрақтарыңыз немесе ұсыныстарыңыз болса, жауап беруге дайынмын.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61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390" y="457200"/>
            <a:ext cx="4450048" cy="269180"/>
          </a:xfrm>
          <a:prstGeom prst="roundRect">
            <a:avLst>
              <a:gd name="adj" fmla="val 49999"/>
            </a:avLst>
          </a:prstGeom>
          <a:solidFill>
            <a:srgbClr val="B48CFF"/>
          </a:solidFill>
          <a:ln/>
        </p:spPr>
      </p:sp>
      <p:sp>
        <p:nvSpPr>
          <p:cNvPr id="3" name="Text 1"/>
          <p:cNvSpPr/>
          <p:nvPr/>
        </p:nvSpPr>
        <p:spPr>
          <a:xfrm>
            <a:off x="558786" y="517906"/>
            <a:ext cx="472428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96" dirty="0">
                <a:solidFill>
                  <a:srgbClr val="00000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АЛГОРИТМДЕУ ЖӘНЕ БАҒДАРЛАМАЛАУ НЕГІЗДЕРІ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390" y="2294812"/>
            <a:ext cx="4470288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66" dirty="0">
                <a:solidFill>
                  <a:srgbClr val="F1EE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Library Manager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06390" y="3519388"/>
            <a:ext cx="487667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Электрондық кітапхана жүйесі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90" y="6029008"/>
            <a:ext cx="4470288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B9B3D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Асылхан Ақбота · ТИИ 26-11 ТиПО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068" y="0"/>
            <a:ext cx="6908627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B1D30B-93F9-C4B0-A531-6033F468D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631" y="6569364"/>
            <a:ext cx="1204064" cy="2133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982067"/>
            <a:ext cx="1237525" cy="269180"/>
          </a:xfrm>
          <a:prstGeom prst="roundRect">
            <a:avLst>
              <a:gd name="adj" fmla="val 49999"/>
            </a:avLst>
          </a:prstGeom>
          <a:solidFill>
            <a:srgbClr val="B48CFF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1042773"/>
            <a:ext cx="154231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96" dirty="0">
                <a:solidFill>
                  <a:srgbClr val="000000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ӨЗЕКТІЛІК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467968"/>
            <a:ext cx="5912992" cy="1243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48" dirty="0">
                <a:solidFill>
                  <a:srgbClr val="F1EE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Жобаның практикалық маңыздылығы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585" y="2862858"/>
            <a:ext cx="5912992" cy="828675"/>
          </a:xfrm>
          <a:prstGeom prst="roundRect">
            <a:avLst>
              <a:gd name="adj" fmla="val 20689"/>
            </a:avLst>
          </a:prstGeom>
          <a:solidFill>
            <a:srgbClr val="2C2561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2945408"/>
            <a:ext cx="550660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Деректерді цифрландыру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780" y="3393083"/>
            <a:ext cx="570979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Кітаптар қорын бірыңғай электрондық тізімде қауіпсіз сақтау.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9585" y="3843933"/>
            <a:ext cx="5912992" cy="828675"/>
          </a:xfrm>
          <a:prstGeom prst="roundRect">
            <a:avLst>
              <a:gd name="adj" fmla="val 20689"/>
            </a:avLst>
          </a:prstGeom>
          <a:solidFill>
            <a:srgbClr val="243164"/>
          </a:solidFill>
          <a:ln/>
        </p:spPr>
      </p:sp>
      <p:sp>
        <p:nvSpPr>
          <p:cNvPr id="9" name="Text 7"/>
          <p:cNvSpPr/>
          <p:nvPr/>
        </p:nvSpPr>
        <p:spPr>
          <a:xfrm>
            <a:off x="812780" y="3926483"/>
            <a:ext cx="550660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Жедел бақылау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780" y="4374158"/>
            <a:ext cx="570979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Кітаптың қолда бар-жоғын бір қадамда анықтау.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585" y="4825008"/>
            <a:ext cx="5912992" cy="1050925"/>
          </a:xfrm>
          <a:prstGeom prst="roundRect">
            <a:avLst>
              <a:gd name="adj" fmla="val 16314"/>
            </a:avLst>
          </a:prstGeom>
          <a:solidFill>
            <a:srgbClr val="1D3252"/>
          </a:solidFill>
          <a:ln/>
        </p:spPr>
      </p:sp>
      <p:sp>
        <p:nvSpPr>
          <p:cNvPr id="12" name="Text 10"/>
          <p:cNvSpPr/>
          <p:nvPr/>
        </p:nvSpPr>
        <p:spPr>
          <a:xfrm>
            <a:off x="812780" y="4907558"/>
            <a:ext cx="550660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Тиімділік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2780" y="5355233"/>
            <a:ext cx="550660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Пайдаланушылар үшін іздеу процесін жылдамдату және консольдік интерфейсті оңтайландыру.</a:t>
            </a:r>
            <a:endParaRPr lang="en-US" sz="12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55" y="0"/>
            <a:ext cx="475484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8A23F6-9D74-EE99-42A1-BFEF7455C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631" y="6569364"/>
            <a:ext cx="1204064" cy="213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652050" cy="269180"/>
          </a:xfrm>
          <a:prstGeom prst="roundRect">
            <a:avLst>
              <a:gd name="adj" fmla="val 49999"/>
            </a:avLst>
          </a:prstGeom>
          <a:solidFill>
            <a:srgbClr val="3FD08A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670306"/>
            <a:ext cx="1956842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96" dirty="0">
                <a:solidFill>
                  <a:srgbClr val="161447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ТЕХНОЛОГИЯЛАР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095501"/>
            <a:ext cx="10972526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48" dirty="0">
                <a:solidFill>
                  <a:srgbClr val="F1EE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Негізгі технологиялар Python негізінде таңдалды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2075954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Жобаны әзірлеу үшін базалық әрі тиімді бағдарламалау құралдары таңдалды.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520454"/>
            <a:ext cx="2628834" cy="3727946"/>
          </a:xfrm>
          <a:prstGeom prst="roundRect">
            <a:avLst>
              <a:gd name="adj" fmla="val 6522"/>
            </a:avLst>
          </a:prstGeom>
          <a:solidFill>
            <a:srgbClr val="1D325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2723654"/>
            <a:ext cx="1986707" cy="11175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780" y="4018955"/>
            <a:ext cx="222244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Python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2780" y="4471392"/>
            <a:ext cx="24256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Негізгі тіл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2780" y="4844455"/>
            <a:ext cx="222244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Бағдарламаның ядролық тілі және орындалу ортасы.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90815" y="2520454"/>
            <a:ext cx="2628834" cy="3727946"/>
          </a:xfrm>
          <a:prstGeom prst="roundRect">
            <a:avLst>
              <a:gd name="adj" fmla="val 6522"/>
            </a:avLst>
          </a:prstGeom>
          <a:solidFill>
            <a:srgbClr val="24316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010" y="2723654"/>
            <a:ext cx="1986707" cy="111750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4010" y="4018955"/>
            <a:ext cx="222244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List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94010" y="4471392"/>
            <a:ext cx="24256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Деректер тізімі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94010" y="4844455"/>
            <a:ext cx="222244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Барлық кітап сөздіктерін бірыңғай реттілікпен сақтау.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72046" y="2520454"/>
            <a:ext cx="2628834" cy="3727946"/>
          </a:xfrm>
          <a:prstGeom prst="roundRect">
            <a:avLst>
              <a:gd name="adj" fmla="val 6522"/>
            </a:avLst>
          </a:prstGeom>
          <a:solidFill>
            <a:srgbClr val="2C256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241" y="2723654"/>
            <a:ext cx="1986707" cy="111750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5241" y="4018955"/>
            <a:ext cx="2222444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Dictionary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375241" y="4471392"/>
            <a:ext cx="24256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Сөздік құрылымы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75241" y="4844455"/>
            <a:ext cx="222244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Әр кітаптың атауы, авторы және күйі кілт-мән ретінде бекітіледі.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953276" y="2520454"/>
            <a:ext cx="2628834" cy="3727946"/>
          </a:xfrm>
          <a:prstGeom prst="roundRect">
            <a:avLst>
              <a:gd name="adj" fmla="val 6522"/>
            </a:avLst>
          </a:prstGeom>
          <a:solidFill>
            <a:srgbClr val="36223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6471" y="2723654"/>
            <a:ext cx="1986707" cy="111750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56471" y="4018955"/>
            <a:ext cx="222244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Басқару логикасы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9156471" y="4788892"/>
            <a:ext cx="242563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while, if-else, def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156471" y="5161955"/>
            <a:ext cx="222244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Үздіксіз мәзір циклі мен тармақталған логикалық функциялар.</a:t>
            </a:r>
            <a:endParaRPr lang="en-US" sz="12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1C84CAC-0484-BFCD-C33D-5F7D2292D8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7631" y="6569364"/>
            <a:ext cx="1204064" cy="2133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444787" cy="269180"/>
          </a:xfrm>
          <a:prstGeom prst="roundRect">
            <a:avLst>
              <a:gd name="adj" fmla="val 49999"/>
            </a:avLst>
          </a:prstGeom>
          <a:solidFill>
            <a:srgbClr val="3FD08A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670306"/>
            <a:ext cx="174958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96" dirty="0">
                <a:solidFill>
                  <a:srgbClr val="161447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095501"/>
            <a:ext cx="10972526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48" dirty="0">
                <a:solidFill>
                  <a:srgbClr val="F1EE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Жүйе төрт негізгі функцияға сүйенеді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1661517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Модульдік құрылым әр әрекеттің дербес әрі қайта қолдануға ыңғайлы болуын қамтамасыз етеді.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080617"/>
            <a:ext cx="5333867" cy="1931491"/>
          </a:xfrm>
          <a:prstGeom prst="roundRect">
            <a:avLst>
              <a:gd name="adj" fmla="val 8876"/>
            </a:avLst>
          </a:prstGeom>
          <a:solidFill>
            <a:srgbClr val="2C008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2283817"/>
            <a:ext cx="476238" cy="476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2780" y="2887067"/>
            <a:ext cx="492747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show_books()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2780" y="3325217"/>
            <a:ext cx="51306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Барлық кітаптарды және күйін көрсету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48244" y="2080617"/>
            <a:ext cx="5333867" cy="1931491"/>
          </a:xfrm>
          <a:prstGeom prst="roundRect">
            <a:avLst>
              <a:gd name="adj" fmla="val 8876"/>
            </a:avLst>
          </a:prstGeom>
          <a:solidFill>
            <a:srgbClr val="2C008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439" y="2283817"/>
            <a:ext cx="476238" cy="476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51439" y="2887067"/>
            <a:ext cx="492747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add_book()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51439" y="3325217"/>
            <a:ext cx="51306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Жаңа кітапты тізімге қосу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09585" y="4316909"/>
            <a:ext cx="5333867" cy="1931491"/>
          </a:xfrm>
          <a:prstGeom prst="roundRect">
            <a:avLst>
              <a:gd name="adj" fmla="val 8876"/>
            </a:avLst>
          </a:prstGeom>
          <a:solidFill>
            <a:srgbClr val="2C008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80" y="4520109"/>
            <a:ext cx="476238" cy="4762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780" y="5123359"/>
            <a:ext cx="492747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search_book()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12780" y="5561509"/>
            <a:ext cx="51306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Атауы немесе автор бойынша іздеу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248244" y="4316909"/>
            <a:ext cx="5333867" cy="1931491"/>
          </a:xfrm>
          <a:prstGeom prst="roundRect">
            <a:avLst>
              <a:gd name="adj" fmla="val 8876"/>
            </a:avLst>
          </a:prstGeom>
          <a:solidFill>
            <a:srgbClr val="2C0080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439" y="4520109"/>
            <a:ext cx="476238" cy="4762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51439" y="5123359"/>
            <a:ext cx="4927477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toggle_availability()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6451439" y="5561509"/>
            <a:ext cx="51306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Кітап күйін «бар»/«берілді» деп ауыстыру</a:t>
            </a:r>
            <a:endParaRPr lang="en-US" sz="15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934422A-8479-0CAB-CDD3-4691AA49BF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7631" y="6569364"/>
            <a:ext cx="1204064" cy="213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133844" cy="269180"/>
          </a:xfrm>
          <a:prstGeom prst="roundRect">
            <a:avLst>
              <a:gd name="adj" fmla="val 49999"/>
            </a:avLst>
          </a:prstGeom>
          <a:solidFill>
            <a:srgbClr val="3FD08A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670306"/>
            <a:ext cx="143863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96" dirty="0">
                <a:solidFill>
                  <a:srgbClr val="161447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АЛГОРИТМ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095501"/>
            <a:ext cx="10972526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48" dirty="0">
                <a:solidFill>
                  <a:srgbClr val="F1EE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Консоль мәзірі әрекеттерді бір циклге біріктіреді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2075954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Пайдаланушының әрбір таңдауы while циклінде өңделіп, сәйкес функция орындалған соң мәзір қайта шақырылады.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2545854"/>
            <a:ext cx="80831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48C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2812554"/>
            <a:ext cx="1950592" cy="19050"/>
          </a:xfrm>
          <a:prstGeom prst="rect">
            <a:avLst/>
          </a:prstGeom>
          <a:solidFill>
            <a:srgbClr val="B48CFF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2948285"/>
            <a:ext cx="19506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Мәзірді шығару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585" y="3325316"/>
            <a:ext cx="19506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while True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3698379"/>
            <a:ext cx="195069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Экранға 1-ден 5-ке дейінгі әрекеттер тізімін ұсыну.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64969" y="2545854"/>
            <a:ext cx="8399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48C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64969" y="2812554"/>
            <a:ext cx="1950592" cy="19050"/>
          </a:xfrm>
          <a:prstGeom prst="rect">
            <a:avLst/>
          </a:prstGeom>
          <a:solidFill>
            <a:srgbClr val="B4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2864969" y="2948285"/>
            <a:ext cx="19506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Таңдауды қабылдау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64969" y="3325316"/>
            <a:ext cx="19506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input(1-5)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64969" y="3698379"/>
            <a:ext cx="195069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Пайдаланушы енгізген сан команда ретінде тіркеледі.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20353" y="2545854"/>
            <a:ext cx="85157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48C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353" y="2812554"/>
            <a:ext cx="1950889" cy="19050"/>
          </a:xfrm>
          <a:prstGeom prst="rect">
            <a:avLst/>
          </a:prstGeom>
          <a:solidFill>
            <a:srgbClr val="B4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353" y="2948285"/>
            <a:ext cx="195088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Функцияны шақыру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20353" y="3325316"/>
            <a:ext cx="195088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if-elif тармағы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353" y="3698379"/>
            <a:ext cx="195088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Таңдалған әрекетке сай нақты Python функциясы іске қосылады.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75936" y="2545854"/>
            <a:ext cx="8567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48C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75936" y="2812554"/>
            <a:ext cx="1950592" cy="19050"/>
          </a:xfrm>
          <a:prstGeom prst="rect">
            <a:avLst/>
          </a:prstGeom>
          <a:solidFill>
            <a:srgbClr val="B4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75936" y="2948285"/>
            <a:ext cx="195069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Нәтижені көрсету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75936" y="3325316"/>
            <a:ext cx="195069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print()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75936" y="3698379"/>
            <a:ext cx="195069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Орындалу нәтижесі көрсетіліп, цикл басына оралады.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31320" y="2545854"/>
            <a:ext cx="8528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48C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31320" y="2812554"/>
            <a:ext cx="1950691" cy="19050"/>
          </a:xfrm>
          <a:prstGeom prst="rect">
            <a:avLst/>
          </a:prstGeom>
          <a:solidFill>
            <a:srgbClr val="B48CFF"/>
          </a:solidFill>
          <a:ln/>
        </p:spPr>
      </p:sp>
      <p:sp>
        <p:nvSpPr>
          <p:cNvPr id="28" name="Text 26"/>
          <p:cNvSpPr/>
          <p:nvPr/>
        </p:nvSpPr>
        <p:spPr>
          <a:xfrm>
            <a:off x="9631320" y="2948285"/>
            <a:ext cx="195079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Жұмысты аяқтау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31320" y="3325316"/>
            <a:ext cx="195079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break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31320" y="3698379"/>
            <a:ext cx="195079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«5. Шығу» пәрмені таңдалғанда бағдарлама тоқтайды.</a:t>
            </a:r>
            <a:endParaRPr lang="en-US" sz="12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86DC8CD-16EB-654F-2A0B-EB6D59E93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631" y="6569364"/>
            <a:ext cx="1204064" cy="2133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833860"/>
            <a:ext cx="1548369" cy="269180"/>
          </a:xfrm>
          <a:prstGeom prst="roundRect">
            <a:avLst>
              <a:gd name="adj" fmla="val 49999"/>
            </a:avLst>
          </a:prstGeom>
          <a:solidFill>
            <a:srgbClr val="3FD08A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1894566"/>
            <a:ext cx="1853161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96" dirty="0">
                <a:solidFill>
                  <a:srgbClr val="161447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КОД ҚҰРЫЛЫМЫ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2287191"/>
            <a:ext cx="450838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Кітап қосу логикасы қарапайым әрі қайта қолдануға ыңғайлы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052366"/>
            <a:ext cx="450838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Пайдаланушы атау мен авторды енгізеді, бағдарлама dictionary құрып, оны books тізіміне қосады.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70368" y="823913"/>
            <a:ext cx="6311742" cy="4038600"/>
          </a:xfrm>
          <a:prstGeom prst="roundRect">
            <a:avLst>
              <a:gd name="adj" fmla="val 4245"/>
            </a:avLst>
          </a:prstGeom>
          <a:solidFill>
            <a:srgbClr val="221F5C"/>
          </a:solidFill>
          <a:ln/>
        </p:spPr>
      </p:sp>
      <p:sp>
        <p:nvSpPr>
          <p:cNvPr id="7" name="Text 5"/>
          <p:cNvSpPr/>
          <p:nvPr/>
        </p:nvSpPr>
        <p:spPr>
          <a:xfrm>
            <a:off x="5498962" y="1014413"/>
            <a:ext cx="585455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Жаңа кітапты тізімге қосу функциясы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add_book(books_list):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input("Кітаптың атауын енгізіңіз: ")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 = input("Авторын енгізіңіз: ")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Деректерді сөздік (dictionary) түрінде сақтау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new_book = {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"title": title,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"author": author,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"is_available": True  # Әдепкіде кітап қолжетімді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books_list.append(new_book)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print(f"'{title}' кітабы тізімге сәтті қосылды!")</a:t>
            </a: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E33F7C-433B-0B5A-69C3-51324D19A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631" y="6569364"/>
            <a:ext cx="1204064" cy="2133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133844" cy="269180"/>
          </a:xfrm>
          <a:prstGeom prst="roundRect">
            <a:avLst>
              <a:gd name="adj" fmla="val 49999"/>
            </a:avLst>
          </a:prstGeom>
          <a:solidFill>
            <a:srgbClr val="A6520B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670306"/>
            <a:ext cx="1438636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96" dirty="0">
                <a:solidFill>
                  <a:srgbClr val="F1EEFF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ТЕСТІЛЕУ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095501"/>
            <a:ext cx="4800480" cy="1657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48" dirty="0">
                <a:solidFill>
                  <a:srgbClr val="F1EE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Тестілеу нәтижесі негізгі сценарийлерді растады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2904827"/>
            <a:ext cx="48004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Барлық базалық модульдер жұмыс қабілетін көрсетті: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3549352"/>
            <a:ext cx="392996" cy="333375"/>
          </a:xfrm>
          <a:prstGeom prst="roundRect">
            <a:avLst>
              <a:gd name="adj" fmla="val 17142"/>
            </a:avLst>
          </a:prstGeom>
          <a:solidFill>
            <a:srgbClr val="A6520B"/>
          </a:solidFill>
          <a:ln/>
        </p:spPr>
      </p:sp>
      <p:sp>
        <p:nvSpPr>
          <p:cNvPr id="7" name="Text 5"/>
          <p:cNvSpPr/>
          <p:nvPr/>
        </p:nvSpPr>
        <p:spPr>
          <a:xfrm>
            <a:off x="704832" y="3620790"/>
            <a:ext cx="8120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61447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93076" y="3620790"/>
            <a:ext cx="421698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Кітапты қосу, көрсету және іздеу орындалды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585" y="4035127"/>
            <a:ext cx="392996" cy="333375"/>
          </a:xfrm>
          <a:prstGeom prst="roundRect">
            <a:avLst>
              <a:gd name="adj" fmla="val 17142"/>
            </a:avLst>
          </a:prstGeom>
          <a:solidFill>
            <a:srgbClr val="A6520B"/>
          </a:solidFill>
          <a:ln/>
        </p:spPr>
      </p:sp>
      <p:sp>
        <p:nvSpPr>
          <p:cNvPr id="10" name="Text 8"/>
          <p:cNvSpPr/>
          <p:nvPr/>
        </p:nvSpPr>
        <p:spPr>
          <a:xfrm>
            <a:off x="704832" y="4106565"/>
            <a:ext cx="8120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61447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93076" y="4106565"/>
            <a:ext cx="421698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Қолжетімділік күйін өзгерту тексерілді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585" y="4520902"/>
            <a:ext cx="392996" cy="333375"/>
          </a:xfrm>
          <a:prstGeom prst="roundRect">
            <a:avLst>
              <a:gd name="adj" fmla="val 17142"/>
            </a:avLst>
          </a:prstGeom>
          <a:solidFill>
            <a:srgbClr val="A6520B"/>
          </a:solidFill>
          <a:ln/>
        </p:spPr>
      </p:sp>
      <p:sp>
        <p:nvSpPr>
          <p:cNvPr id="13" name="Text 11"/>
          <p:cNvSpPr/>
          <p:nvPr/>
        </p:nvSpPr>
        <p:spPr>
          <a:xfrm>
            <a:off x="704832" y="4592340"/>
            <a:ext cx="8120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61447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93076" y="4592340"/>
            <a:ext cx="421698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Қате енгізулер try-except арқылы өңделді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9585" y="5006677"/>
            <a:ext cx="392996" cy="333375"/>
          </a:xfrm>
          <a:prstGeom prst="roundRect">
            <a:avLst>
              <a:gd name="adj" fmla="val 17142"/>
            </a:avLst>
          </a:prstGeom>
          <a:solidFill>
            <a:srgbClr val="A6520B"/>
          </a:solidFill>
          <a:ln/>
        </p:spPr>
      </p:sp>
      <p:sp>
        <p:nvSpPr>
          <p:cNvPr id="16" name="Text 14"/>
          <p:cNvSpPr/>
          <p:nvPr/>
        </p:nvSpPr>
        <p:spPr>
          <a:xfrm>
            <a:off x="704832" y="5078115"/>
            <a:ext cx="8120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61447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93076" y="5078115"/>
            <a:ext cx="421698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5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Консоль нәтижесі пайдаланушыға түсінікті хабарламалармен берілді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14758" y="1046758"/>
            <a:ext cx="5867352" cy="4038600"/>
          </a:xfrm>
          <a:prstGeom prst="roundRect">
            <a:avLst>
              <a:gd name="adj" fmla="val 4245"/>
            </a:avLst>
          </a:prstGeom>
          <a:solidFill>
            <a:srgbClr val="221F5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352" y="1237258"/>
            <a:ext cx="54101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Library Manager Мәзірі ===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Кітаптар тізімін көру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Жаңа кітап қосу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Кітап іздеу (атауы/авторы)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Кітаптың қолжетімділігін өзгерту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Шығу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Әрекетті таңдаңыз (1-5): 3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Кітапты іздеу ---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Кітап атауын немесе авторын енгізіңіз: абай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Табылған кітаптар саны: 1</a:t>
            </a:r>
            <a:endParaRPr lang="en-US" sz="15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Абай жолы (Мұхтар Әуезов) - Қолжетімді</a:t>
            </a: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E329E7-678F-0060-9981-CB4FA1EB0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631" y="6569364"/>
            <a:ext cx="1204064" cy="2133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377420" cy="269180"/>
          </a:xfrm>
          <a:prstGeom prst="roundRect">
            <a:avLst>
              <a:gd name="adj" fmla="val 49999"/>
            </a:avLst>
          </a:prstGeom>
          <a:solidFill>
            <a:srgbClr val="3FD08A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670306"/>
            <a:ext cx="2682213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96" dirty="0">
                <a:solidFill>
                  <a:srgbClr val="161447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ДЕПЛОЙ ЖӘНЕ ДЕРЕККӨЗ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095501"/>
            <a:ext cx="10972526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48" dirty="0">
                <a:solidFill>
                  <a:srgbClr val="F1EE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GitHub репозиторийі жобаны қайта іске қосуға мүмкіндік береді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585" y="2075954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Жоба коды ашық түрде сақталып, оны кез келген ортада қайталап орнатуға барлық нұсқаулықтар енгізілген.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520454"/>
          <a:ext cx="10997826" cy="2959026"/>
        </p:xfrm>
        <a:graphic>
          <a:graphicData uri="http://schemas.openxmlformats.org/drawingml/2006/table">
            <a:tbl>
              <a:tblPr/>
              <a:tblGrid>
                <a:gridCol w="2769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2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2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1EEFF"/>
                          </a:solidFill>
                          <a:latin typeface="Onest Medium" pitchFamily="34" charset="0"/>
                          <a:ea typeface="Onest Medium" pitchFamily="34" charset="-122"/>
                          <a:cs typeface="Onest Medium" pitchFamily="34" charset="-120"/>
                        </a:rPr>
                        <a:t>Компонент</a:t>
                      </a:r>
                      <a:endParaRPr lang="en-US" sz="1500" dirty="0">
                        <a:latin typeface="Onest Medium" charset="0"/>
                        <a:ea typeface="Onest Medium" charset="0"/>
                        <a:cs typeface="Onest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1EEFF"/>
                          </a:solidFill>
                          <a:latin typeface="Onest Medium" pitchFamily="34" charset="0"/>
                          <a:ea typeface="Onest Medium" pitchFamily="34" charset="-122"/>
                          <a:cs typeface="Onest Medium" pitchFamily="34" charset="-120"/>
                        </a:rPr>
                        <a:t>Сипаттамасы</a:t>
                      </a:r>
                      <a:endParaRPr lang="en-US" sz="1500" dirty="0">
                        <a:latin typeface="Onest Medium" charset="0"/>
                        <a:ea typeface="Onest Medium" charset="0"/>
                        <a:cs typeface="Onest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1EEFF"/>
                          </a:solidFill>
                          <a:latin typeface="Onest Medium" pitchFamily="34" charset="0"/>
                          <a:ea typeface="Onest Medium" pitchFamily="34" charset="-122"/>
                          <a:cs typeface="Onest Medium" pitchFamily="34" charset="-120"/>
                        </a:rPr>
                        <a:t>Пәрмен / Мән</a:t>
                      </a:r>
                      <a:endParaRPr lang="en-US" sz="1500" dirty="0">
                        <a:latin typeface="Onest Medium" charset="0"/>
                        <a:ea typeface="Onest Medium" charset="0"/>
                        <a:cs typeface="Onest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Onest Medium" charset="0"/>
                        <a:ea typeface="Onest Medium" charset="0"/>
                        <a:cs typeface="Onest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0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1EEFF"/>
                          </a:solidFill>
                          <a:latin typeface="IBM Plex Mono Medium" pitchFamily="34" charset="0"/>
                          <a:ea typeface="IBM Plex Mono Medium" pitchFamily="34" charset="-122"/>
                          <a:cs typeface="IBM Plex Mono Medium" pitchFamily="34" charset="-120"/>
                        </a:rPr>
                        <a:t>Репозиторий</a:t>
                      </a: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1EEFF"/>
                          </a:solidFill>
                          <a:latin typeface="IBM Plex Mono Medium" pitchFamily="34" charset="0"/>
                          <a:ea typeface="IBM Plex Mono Medium" pitchFamily="34" charset="-122"/>
                          <a:cs typeface="IBM Plex Mono Medium" pitchFamily="34" charset="-120"/>
                        </a:rPr>
                        <a:t>GitHub желісіндегі ашық бастапқы код</a:t>
                      </a: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1EEFF"/>
                          </a:solidFill>
                          <a:latin typeface="IBM Plex Mono Medium" pitchFamily="34" charset="0"/>
                          <a:ea typeface="IBM Plex Mono Medium" pitchFamily="34" charset="-122"/>
                          <a:cs typeface="IBM Plex Mono Medium" pitchFamily="34" charset="-120"/>
                        </a:rPr>
                        <a:t>github.com/botaasylkhan077-arch/library-manager</a:t>
                      </a:r>
                      <a:endParaRPr lang="en-US" sz="125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4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1EEFF"/>
                          </a:solidFill>
                          <a:latin typeface="IBM Plex Mono Medium" pitchFamily="34" charset="0"/>
                          <a:ea typeface="IBM Plex Mono Medium" pitchFamily="34" charset="-122"/>
                          <a:cs typeface="IBM Plex Mono Medium" pitchFamily="34" charset="-120"/>
                        </a:rPr>
                        <a:t>Негізгі файл</a:t>
                      </a: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1EEFF"/>
                          </a:solidFill>
                          <a:latin typeface="IBM Plex Mono Medium" pitchFamily="34" charset="0"/>
                          <a:ea typeface="IBM Plex Mono Medium" pitchFamily="34" charset="-122"/>
                          <a:cs typeface="IBM Plex Mono Medium" pitchFamily="34" charset="-120"/>
                        </a:rPr>
                        <a:t>Бағдарламаның бастапқы нүктесі</a:t>
                      </a: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1EE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main.py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1EEFF"/>
                          </a:solidFill>
                          <a:latin typeface="IBM Plex Mono Medium" pitchFamily="34" charset="0"/>
                          <a:ea typeface="IBM Plex Mono Medium" pitchFamily="34" charset="-122"/>
                          <a:cs typeface="IBM Plex Mono Medium" pitchFamily="34" charset="-120"/>
                        </a:rPr>
                        <a:t>Іске қосу</a:t>
                      </a: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1EEFF"/>
                          </a:solidFill>
                          <a:latin typeface="IBM Plex Mono Medium" pitchFamily="34" charset="0"/>
                          <a:ea typeface="IBM Plex Mono Medium" pitchFamily="34" charset="-122"/>
                          <a:cs typeface="IBM Plex Mono Medium" pitchFamily="34" charset="-120"/>
                        </a:rPr>
                        <a:t>Терминал немесе пәрмен жолы арқылы</a:t>
                      </a: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1EE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main.py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9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1EEFF"/>
                          </a:solidFill>
                          <a:latin typeface="IBM Plex Mono Medium" pitchFamily="34" charset="0"/>
                          <a:ea typeface="IBM Plex Mono Medium" pitchFamily="34" charset="-122"/>
                          <a:cs typeface="IBM Plex Mono Medium" pitchFamily="34" charset="-120"/>
                        </a:rPr>
                        <a:t>Құжаттама</a:t>
                      </a: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2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1EEFF"/>
                          </a:solidFill>
                          <a:latin typeface="IBM Plex Mono Medium" pitchFamily="34" charset="0"/>
                          <a:ea typeface="IBM Plex Mono Medium" pitchFamily="34" charset="-122"/>
                          <a:cs typeface="IBM Plex Mono Medium" pitchFamily="34" charset="-120"/>
                        </a:rPr>
                        <a:t>Орнату, қолдану және сипаттама қадамдары</a:t>
                      </a: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1D3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1EE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README.md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IBM Plex Mono Medium" charset="0"/>
                        <a:ea typeface="IBM Plex Mono Medium" charset="0"/>
                        <a:cs typeface="IBM Plex Mono Medium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1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1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2FC76C8-1FDC-0C64-F28F-6E6F9ECED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7631" y="6569364"/>
            <a:ext cx="1204064" cy="2133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779562"/>
            <a:ext cx="2688265" cy="269180"/>
          </a:xfrm>
          <a:prstGeom prst="roundRect">
            <a:avLst>
              <a:gd name="adj" fmla="val 49999"/>
            </a:avLst>
          </a:prstGeom>
          <a:solidFill>
            <a:srgbClr val="FF5E7E"/>
          </a:solidFill>
          <a:ln/>
        </p:spPr>
      </p:sp>
      <p:sp>
        <p:nvSpPr>
          <p:cNvPr id="3" name="Text 1"/>
          <p:cNvSpPr/>
          <p:nvPr/>
        </p:nvSpPr>
        <p:spPr>
          <a:xfrm>
            <a:off x="761981" y="840268"/>
            <a:ext cx="2993057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kern="100" spc="96" dirty="0">
                <a:solidFill>
                  <a:srgbClr val="161447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ҚОРЫТЫНДЫ ЖӘНЕ БОЛАШАҒЫ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265463"/>
            <a:ext cx="5912992" cy="1657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200" b="1" kern="100" spc="-48" dirty="0">
                <a:solidFill>
                  <a:srgbClr val="F1EE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Жоба кітапхана операцияларының негізін автоматтандырды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09585" y="3074789"/>
            <a:ext cx="5912992" cy="1558925"/>
          </a:xfrm>
          <a:prstGeom prst="roundRect">
            <a:avLst>
              <a:gd name="adj" fmla="val 10998"/>
            </a:avLst>
          </a:prstGeom>
          <a:solidFill>
            <a:srgbClr val="371E4F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3233539"/>
            <a:ext cx="550660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Қол жеткізілген нәтижелер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780" y="3681214"/>
            <a:ext cx="5506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Кітаптарды сақтау, іздеу және күйін басқару іске асырылды. Функцияларға бөлінген құрылым кодты түсінуді жеңілдетеді.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4786114"/>
            <a:ext cx="5912992" cy="1292225"/>
          </a:xfrm>
          <a:prstGeom prst="roundRect">
            <a:avLst>
              <a:gd name="adj" fmla="val 13267"/>
            </a:avLst>
          </a:prstGeom>
          <a:solidFill>
            <a:srgbClr val="1D3252"/>
          </a:solidFill>
          <a:ln/>
        </p:spPr>
      </p:sp>
      <p:sp>
        <p:nvSpPr>
          <p:cNvPr id="9" name="Text 7"/>
          <p:cNvSpPr/>
          <p:nvPr/>
        </p:nvSpPr>
        <p:spPr>
          <a:xfrm>
            <a:off x="812780" y="4944864"/>
            <a:ext cx="5506602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1EEFF"/>
                </a:solidFill>
                <a:latin typeface="Onest ExtraBold" pitchFamily="34" charset="0"/>
                <a:ea typeface="Onest ExtraBold" pitchFamily="34" charset="-122"/>
                <a:cs typeface="Onest ExtraBold" pitchFamily="34" charset="-120"/>
              </a:rPr>
              <a:t>Келесі даму қадамдары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2780" y="5392539"/>
            <a:ext cx="55066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1EEFF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Файлға сақтау, графикалық интерфейс, пайдаланушы рөлдері және дерекқор қосу.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55" y="0"/>
            <a:ext cx="475484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8A0B30-7589-97AA-4957-EDC6F4281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631" y="6569364"/>
            <a:ext cx="1204064" cy="2133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678" y="2853612"/>
            <a:ext cx="6908627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66" dirty="0">
                <a:solidFill>
                  <a:srgbClr val="F1EE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Назарларыңызға рақмет!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876678" y="6029008"/>
            <a:ext cx="6908627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B9B3D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«Library Manager — Электрондық кітапхана жүйесі»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B9B3DE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Асылхан Ақбота · ТИИ 26-11 ТиПО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1BA14-CA2B-E5E0-4D7F-644140697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631" y="6569364"/>
            <a:ext cx="1204064" cy="2133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844</Words>
  <Application>Microsoft Office PowerPoint</Application>
  <PresentationFormat>Widescreen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Onest ExtraBold</vt:lpstr>
      <vt:lpstr>IBM Plex Mono Medium</vt:lpstr>
      <vt:lpstr>Arial</vt:lpstr>
      <vt:lpstr>IBM Plex Mono SemiBold</vt:lpstr>
      <vt:lpstr>Onest SemiBold</vt:lpstr>
      <vt:lpstr>Consolas</vt:lpstr>
      <vt:lpstr>Unbounded Bold</vt:lpstr>
      <vt:lpstr>Onest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Admin ???</cp:lastModifiedBy>
  <cp:revision>2</cp:revision>
  <dcterms:created xsi:type="dcterms:W3CDTF">2026-10-20T17:23:57Z</dcterms:created>
  <dcterms:modified xsi:type="dcterms:W3CDTF">2026-10-21T05:26:25Z</dcterms:modified>
</cp:coreProperties>
</file>